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hP3bYLmOt1pvSFGFuc7lFJq3dG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4" name="Google Shape;6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8f39f7dc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71" name="Google Shape;71;g348f39f7dce_0_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2451734c4_0_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2451734c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82451734c4_0_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4ac4473ba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Corey</a:t>
            </a:r>
            <a:endParaRPr/>
          </a:p>
        </p:txBody>
      </p:sp>
      <p:sp>
        <p:nvSpPr>
          <p:cNvPr id="86" name="Google Shape;86;g384ac4473ba_2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8f39f7dc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Blue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→ represent the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components that belong to subsystem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(Battery, Fuse/Breaker, Inverter, Relay, DC fuse). These are the parts I’m designing and researching.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Orange 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→ represent the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loads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(AC Loads, DC Loads). These are not part of your subsystem design, but they show where the power goes once it leaves your system.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“We used two colors to separate what belongs to my subsystem (blue) from the actual loads we are powering (orange)”</a:t>
            </a:r>
            <a:endParaRPr/>
          </a:p>
        </p:txBody>
      </p:sp>
      <p:sp>
        <p:nvSpPr>
          <p:cNvPr id="93" name="Google Shape;93;g348f39f7dce_0_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84ac4473ba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Sara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what, how and why</a:t>
            </a:r>
            <a:endParaRPr/>
          </a:p>
        </p:txBody>
      </p:sp>
      <p:sp>
        <p:nvSpPr>
          <p:cNvPr id="100" name="Google Shape;100;g384ac4473ba_2_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4ac4473ba_1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84ac4473ba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84ac4473ba_1_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Thomas</a:t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4ac0b923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Matthew</a:t>
            </a:r>
            <a:endParaRPr/>
          </a:p>
        </p:txBody>
      </p:sp>
      <p:sp>
        <p:nvSpPr>
          <p:cNvPr id="121" name="Google Shape;121;g384ac0b923c_0_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8f39f7dc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Matthew</a:t>
            </a:r>
            <a:endParaRPr/>
          </a:p>
        </p:txBody>
      </p:sp>
      <p:sp>
        <p:nvSpPr>
          <p:cNvPr id="128" name="Google Shape;128;g348f39f7dce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LCOE_logo_HWHT.png" id="27" name="Google Shape;2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5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1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4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/>
          <p:nvPr>
            <p:ph type="ctrTitle"/>
          </p:nvPr>
        </p:nvSpPr>
        <p:spPr>
          <a:xfrm>
            <a:off x="1738850" y="3577125"/>
            <a:ext cx="7302600" cy="26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45720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/>
              <a:t>Solar Home Lighting 1</a:t>
            </a:r>
            <a:endParaRPr/>
          </a:p>
          <a:p>
            <a:pPr indent="0" lvl="0" marL="45720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0" lvl="0" marL="45720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b="0" lang="en-US"/>
              <a:t>Matthew Cepulis</a:t>
            </a:r>
            <a:endParaRPr b="0"/>
          </a:p>
          <a:p>
            <a:pPr indent="0" lvl="0" marL="45720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b="0" lang="en-US"/>
              <a:t>Corey Perlmutter</a:t>
            </a:r>
            <a:endParaRPr b="0"/>
          </a:p>
          <a:p>
            <a:pPr indent="0" lvl="0" marL="45720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b="0" lang="en-US"/>
              <a:t>Thomas Moll</a:t>
            </a:r>
            <a:endParaRPr b="0"/>
          </a:p>
          <a:p>
            <a:pPr indent="0" lvl="0" marL="45720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b="0" lang="en-US"/>
              <a:t>Sara Rueda</a:t>
            </a:r>
            <a:endParaRPr b="0"/>
          </a:p>
        </p:txBody>
      </p:sp>
      <p:sp>
        <p:nvSpPr>
          <p:cNvPr id="59" name="Google Shape;59;p1"/>
          <p:cNvSpPr/>
          <p:nvPr/>
        </p:nvSpPr>
        <p:spPr>
          <a:xfrm>
            <a:off x="0" y="0"/>
            <a:ext cx="6111300" cy="6111300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LCOE_logo_HWHT.png" id="60" name="Google Shape;6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"/>
          <p:cNvSpPr txBox="1"/>
          <p:nvPr>
            <p:ph type="ctrTitle"/>
          </p:nvPr>
        </p:nvSpPr>
        <p:spPr>
          <a:xfrm>
            <a:off x="6366650" y="2074825"/>
            <a:ext cx="2674800" cy="8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/>
              <a:t>ECEN 403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 txBox="1"/>
          <p:nvPr>
            <p:ph type="title"/>
          </p:nvPr>
        </p:nvSpPr>
        <p:spPr>
          <a:xfrm>
            <a:off x="457200" y="840802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Executive Summary</a:t>
            </a:r>
            <a:endParaRPr/>
          </a:p>
        </p:txBody>
      </p:sp>
      <p:sp>
        <p:nvSpPr>
          <p:cNvPr id="67" name="Google Shape;67;p2"/>
          <p:cNvSpPr txBox="1"/>
          <p:nvPr>
            <p:ph idx="1" type="body"/>
          </p:nvPr>
        </p:nvSpPr>
        <p:spPr>
          <a:xfrm>
            <a:off x="457200" y="1580950"/>
            <a:ext cx="8229600" cy="49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/>
              <a:t>Problem Statement:</a:t>
            </a:r>
            <a:endParaRPr b="1" sz="2000" u="sng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Traditional residential lighting systems rely heavily on grid electricity, lack intelligent control features, and do not optimize for energy savings.</a:t>
            </a:r>
            <a:endParaRPr sz="2000"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/>
              <a:t>Our Solar Home Lighting System will:</a:t>
            </a:r>
            <a:endParaRPr b="1" sz="2000" u="sng"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Provide sustainable solar energy for home use.</a:t>
            </a:r>
            <a:endParaRPr sz="2000"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Use a battery for reliable, off-grid power.</a:t>
            </a:r>
            <a:endParaRPr sz="2000"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Facilitate nighttime, motion-based lighting.</a:t>
            </a:r>
            <a:endParaRPr sz="2000"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Allow control via switches and an app.</a:t>
            </a:r>
            <a:endParaRPr sz="2000"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Support light scheduling </a:t>
            </a:r>
            <a:endParaRPr sz="20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and manual override.</a:t>
            </a:r>
            <a:endParaRPr sz="2000"/>
          </a:p>
        </p:txBody>
      </p:sp>
      <p:pic>
        <p:nvPicPr>
          <p:cNvPr id="68" name="Google Shape;68;p2" title="ChatGPT Image Sep 23, 2025, 06_59_45 PM.png"/>
          <p:cNvPicPr preferRelativeResize="0"/>
          <p:nvPr/>
        </p:nvPicPr>
        <p:blipFill rotWithShape="1">
          <a:blip r:embed="rId3">
            <a:alphaModFix amt="96000"/>
          </a:blip>
          <a:srcRect b="9065" l="0" r="0" t="7385"/>
          <a:stretch/>
        </p:blipFill>
        <p:spPr>
          <a:xfrm>
            <a:off x="5782750" y="4092775"/>
            <a:ext cx="3170749" cy="26491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48f39f7dce_0_16"/>
          <p:cNvSpPr txBox="1"/>
          <p:nvPr>
            <p:ph type="title"/>
          </p:nvPr>
        </p:nvSpPr>
        <p:spPr>
          <a:xfrm>
            <a:off x="457200" y="829552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System Overview</a:t>
            </a:r>
            <a:endParaRPr/>
          </a:p>
        </p:txBody>
      </p:sp>
      <p:pic>
        <p:nvPicPr>
          <p:cNvPr id="74" name="Google Shape;74;g348f39f7dce_0_16"/>
          <p:cNvPicPr preferRelativeResize="0"/>
          <p:nvPr/>
        </p:nvPicPr>
        <p:blipFill rotWithShape="1">
          <a:blip r:embed="rId3">
            <a:alphaModFix/>
          </a:blip>
          <a:srcRect b="10726" l="17628" r="17466" t="10632"/>
          <a:stretch/>
        </p:blipFill>
        <p:spPr>
          <a:xfrm>
            <a:off x="1020888" y="1633250"/>
            <a:ext cx="7102224" cy="483725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75" name="Google Shape;75;g348f39f7dce_0_16"/>
          <p:cNvSpPr txBox="1"/>
          <p:nvPr/>
        </p:nvSpPr>
        <p:spPr>
          <a:xfrm>
            <a:off x="3204300" y="6470500"/>
            <a:ext cx="273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</a:rPr>
              <a:t>Figure 1: System Overview diagram</a:t>
            </a:r>
            <a:endParaRPr i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2451734c4_0_4"/>
          <p:cNvSpPr txBox="1"/>
          <p:nvPr>
            <p:ph type="title"/>
          </p:nvPr>
        </p:nvSpPr>
        <p:spPr>
          <a:xfrm>
            <a:off x="345400" y="910325"/>
            <a:ext cx="85350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Solar Panel and Charge Controller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Subsystem - Corey Perlmutter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82451734c4_0_4"/>
          <p:cNvSpPr txBox="1"/>
          <p:nvPr>
            <p:ph idx="1" type="body"/>
          </p:nvPr>
        </p:nvSpPr>
        <p:spPr>
          <a:xfrm>
            <a:off x="457200" y="6266920"/>
            <a:ext cx="8229600" cy="35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200"/>
              <a:t>Figure 2: Solar Panel and Charge Controller Diagram</a:t>
            </a:r>
            <a:endParaRPr/>
          </a:p>
        </p:txBody>
      </p:sp>
      <p:pic>
        <p:nvPicPr>
          <p:cNvPr id="83" name="Google Shape;83;g382451734c4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1888" y="1778100"/>
            <a:ext cx="5842020" cy="453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4ac4473ba_2_25"/>
          <p:cNvSpPr txBox="1"/>
          <p:nvPr>
            <p:ph type="title"/>
          </p:nvPr>
        </p:nvSpPr>
        <p:spPr>
          <a:xfrm>
            <a:off x="457200" y="91522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Solar Panel and Charge Controller Subsystem - Corey Perlmutter</a:t>
            </a:r>
            <a:endParaRPr/>
          </a:p>
        </p:txBody>
      </p:sp>
      <p:sp>
        <p:nvSpPr>
          <p:cNvPr id="89" name="Google Shape;89;g384ac4473ba_2_25"/>
          <p:cNvSpPr txBox="1"/>
          <p:nvPr>
            <p:ph idx="1" type="body"/>
          </p:nvPr>
        </p:nvSpPr>
        <p:spPr>
          <a:xfrm>
            <a:off x="540750" y="2141275"/>
            <a:ext cx="8062500" cy="4150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25000" lnSpcReduction="1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8150" u="sng"/>
              <a:t>Purpose:</a:t>
            </a:r>
            <a:endParaRPr b="1" sz="8150" u="sng"/>
          </a:p>
          <a:p>
            <a:pPr indent="-357981" lvl="0" marL="457200" rtl="0" algn="l">
              <a:spcBef>
                <a:spcPts val="360"/>
              </a:spcBef>
              <a:spcAft>
                <a:spcPts val="0"/>
              </a:spcAft>
              <a:buSzPct val="100000"/>
              <a:buChar char="-"/>
            </a:pPr>
            <a:r>
              <a:rPr lang="en-US" sz="8150"/>
              <a:t>Powers and charges the system’s batteries</a:t>
            </a:r>
            <a:endParaRPr sz="8150"/>
          </a:p>
          <a:p>
            <a:pPr indent="-35798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8150"/>
              <a:t>Regulates voltage and current going into a batteries and other system</a:t>
            </a:r>
            <a:endParaRPr sz="815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815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8150" u="sng"/>
              <a:t>Key Functions:</a:t>
            </a:r>
            <a:endParaRPr b="1" sz="8150" u="sng"/>
          </a:p>
          <a:p>
            <a:pPr indent="-357981" lvl="0" marL="457200" rtl="0" algn="l">
              <a:spcBef>
                <a:spcPts val="360"/>
              </a:spcBef>
              <a:spcAft>
                <a:spcPts val="0"/>
              </a:spcAft>
              <a:buSzPct val="100000"/>
              <a:buChar char="-"/>
            </a:pPr>
            <a:r>
              <a:rPr lang="en-US" sz="8150"/>
              <a:t>Microcontroller receive vital information and controls battery charging</a:t>
            </a:r>
            <a:endParaRPr sz="8150"/>
          </a:p>
          <a:p>
            <a:pPr indent="-35798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8150"/>
              <a:t>Switches between batteries for charging and discharging</a:t>
            </a:r>
            <a:endParaRPr sz="8150"/>
          </a:p>
          <a:p>
            <a:pPr indent="-35798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8150"/>
              <a:t>Display to communicate important information</a:t>
            </a:r>
            <a:endParaRPr sz="8150"/>
          </a:p>
          <a:p>
            <a:pPr indent="-35798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US" sz="8150"/>
              <a:t>Connect with batteries, wiring and inverters to send power to loads</a:t>
            </a:r>
            <a:endParaRPr sz="815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84ac4473ba_2_25"/>
          <p:cNvSpPr txBox="1"/>
          <p:nvPr/>
        </p:nvSpPr>
        <p:spPr>
          <a:xfrm>
            <a:off x="5524925" y="6054050"/>
            <a:ext cx="364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48f39f7dce_0_11"/>
          <p:cNvSpPr txBox="1"/>
          <p:nvPr>
            <p:ph type="title"/>
          </p:nvPr>
        </p:nvSpPr>
        <p:spPr>
          <a:xfrm>
            <a:off x="457200" y="8849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Battery and AC/DC Load Subsystem -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 Sara Rueda</a:t>
            </a:r>
            <a:endParaRPr/>
          </a:p>
        </p:txBody>
      </p:sp>
      <p:pic>
        <p:nvPicPr>
          <p:cNvPr id="96" name="Google Shape;96;g348f39f7dce_0_11"/>
          <p:cNvPicPr preferRelativeResize="0"/>
          <p:nvPr/>
        </p:nvPicPr>
        <p:blipFill rotWithShape="1">
          <a:blip r:embed="rId3">
            <a:alphaModFix/>
          </a:blip>
          <a:srcRect b="15275" l="2735" r="3243" t="11287"/>
          <a:stretch/>
        </p:blipFill>
        <p:spPr>
          <a:xfrm>
            <a:off x="732875" y="2110500"/>
            <a:ext cx="7678250" cy="379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48f39f7dce_0_11"/>
          <p:cNvSpPr txBox="1"/>
          <p:nvPr/>
        </p:nvSpPr>
        <p:spPr>
          <a:xfrm>
            <a:off x="2501850" y="6047075"/>
            <a:ext cx="414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</a:rPr>
              <a:t>Figure 3: Battery and AC/DC diagram</a:t>
            </a:r>
            <a:endParaRPr i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4ac4473ba_2_3"/>
          <p:cNvSpPr txBox="1"/>
          <p:nvPr>
            <p:ph type="title"/>
          </p:nvPr>
        </p:nvSpPr>
        <p:spPr>
          <a:xfrm>
            <a:off x="457200" y="865552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Battery and AC/DC Load Subsystem -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 Sara Rueda</a:t>
            </a:r>
            <a:endParaRPr/>
          </a:p>
        </p:txBody>
      </p:sp>
      <p:sp>
        <p:nvSpPr>
          <p:cNvPr id="103" name="Google Shape;103;g384ac4473ba_2_3"/>
          <p:cNvSpPr txBox="1"/>
          <p:nvPr>
            <p:ph idx="1" type="body"/>
          </p:nvPr>
        </p:nvSpPr>
        <p:spPr>
          <a:xfrm>
            <a:off x="457200" y="1620651"/>
            <a:ext cx="82296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sz="2000" u="sng"/>
          </a:p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2000" u="sng"/>
              <a:t>Purpose:</a:t>
            </a:r>
            <a:endParaRPr b="1" sz="2000" u="sng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Deliver safe DC and AC power.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2000" u="sng"/>
              <a:t>Key Functions:</a:t>
            </a:r>
            <a:endParaRPr b="1" sz="2000" u="sng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Support safe battery discharge.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Convert DC → 120 VAC, 60Hz.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Protect system with breakers/fuses.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Switch loads on/off using relays.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sz="2000" u="sng"/>
          </a:p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2000" u="sng"/>
              <a:t>Subsystem Role:</a:t>
            </a:r>
            <a:endParaRPr b="1" sz="2000" u="sng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Links stored solar energy to usable home power.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Ensures reliable and safe system operation.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4ac4473ba_1_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Microcontroller and Sensor Data Subsystem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Thomas Moll</a:t>
            </a:r>
            <a:endParaRPr/>
          </a:p>
        </p:txBody>
      </p:sp>
      <p:sp>
        <p:nvSpPr>
          <p:cNvPr id="110" name="Google Shape;110;g384ac4473ba_1_2"/>
          <p:cNvSpPr txBox="1"/>
          <p:nvPr>
            <p:ph idx="1" type="body"/>
          </p:nvPr>
        </p:nvSpPr>
        <p:spPr>
          <a:xfrm flipH="1" rot="10800000">
            <a:off x="457200" y="6126395"/>
            <a:ext cx="8229600" cy="18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111" name="Google Shape;111;g384ac4473ba_1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7675" y="1970075"/>
            <a:ext cx="5008650" cy="4676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84ac4473ba_1_2"/>
          <p:cNvSpPr txBox="1"/>
          <p:nvPr/>
        </p:nvSpPr>
        <p:spPr>
          <a:xfrm>
            <a:off x="1184100" y="6465025"/>
            <a:ext cx="713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</a:rPr>
              <a:t>Figure 4: Microcontroller and sensor data diagram</a:t>
            </a:r>
            <a:endParaRPr i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Microcontroller and Sensor Data Subsystem - Thomas Moll</a:t>
            </a:r>
            <a:endParaRPr/>
          </a:p>
        </p:txBody>
      </p:sp>
      <p:sp>
        <p:nvSpPr>
          <p:cNvPr id="118" name="Google Shape;118;p4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1800" u="sng"/>
              <a:t>Purpose:</a:t>
            </a:r>
            <a:endParaRPr b="1" sz="1800"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To take in sensor data, trigger lightbulb relays, communicate with the cloud database, and </a:t>
            </a:r>
            <a:r>
              <a:rPr lang="en-US" sz="1800"/>
              <a:t>receive</a:t>
            </a:r>
            <a:r>
              <a:rPr lang="en-US" sz="1800"/>
              <a:t> commands from the app.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   </a:t>
            </a:r>
            <a:r>
              <a:rPr b="1" lang="en-US" sz="1800" u="sng"/>
              <a:t>Key Functions:</a:t>
            </a:r>
            <a:endParaRPr b="1" sz="1800"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Take in sensor data from GPIOs and upload data to </a:t>
            </a:r>
            <a:r>
              <a:rPr lang="en-US" sz="1800"/>
              <a:t>firebase</a:t>
            </a:r>
            <a:r>
              <a:rPr lang="en-US" sz="1800"/>
              <a:t> database.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Microcontroller will </a:t>
            </a:r>
            <a:r>
              <a:rPr lang="en-US" sz="1800"/>
              <a:t>receive</a:t>
            </a:r>
            <a:r>
              <a:rPr lang="en-US" sz="1800"/>
              <a:t> commands from app to trigger light bulb relays.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Sensors: PIR Sensor(Motion), light sensor, camera(IR/night vision), camera(normal), and battery sensor.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 </a:t>
            </a:r>
            <a:r>
              <a:rPr b="1" lang="en-US" sz="1800" u="sng"/>
              <a:t>Subsystem Role:</a:t>
            </a:r>
            <a:endParaRPr b="1" sz="1800"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Control lights based on commands </a:t>
            </a:r>
            <a:r>
              <a:rPr lang="en-US" sz="1800"/>
              <a:t>received</a:t>
            </a:r>
            <a:r>
              <a:rPr lang="en-US" sz="1800"/>
              <a:t> from app.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Take in sensor data and send to database for app to process. 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4ac0b923c_0_3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Mobile Application and Image Processing Subsystem - Matthew Cepulis</a:t>
            </a:r>
            <a:endParaRPr/>
          </a:p>
        </p:txBody>
      </p:sp>
      <p:sp>
        <p:nvSpPr>
          <p:cNvPr id="124" name="Google Shape;124;g384ac0b923c_0_3"/>
          <p:cNvSpPr txBox="1"/>
          <p:nvPr/>
        </p:nvSpPr>
        <p:spPr>
          <a:xfrm>
            <a:off x="1003050" y="6231750"/>
            <a:ext cx="713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</a:rPr>
              <a:t>Figure 5: Mobile app and Machine Learning Subsystem Block diagram.</a:t>
            </a:r>
            <a:endParaRPr i="1" sz="1200">
              <a:solidFill>
                <a:schemeClr val="dk1"/>
              </a:solidFill>
            </a:endParaRPr>
          </a:p>
        </p:txBody>
      </p:sp>
      <p:pic>
        <p:nvPicPr>
          <p:cNvPr id="125" name="Google Shape;125;g384ac0b923c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7712" y="2020623"/>
            <a:ext cx="6228574" cy="421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48f39f7dce_0_1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Mobile Application and Image Processing Subsystem - Matthew Cepulis</a:t>
            </a:r>
            <a:endParaRPr/>
          </a:p>
        </p:txBody>
      </p:sp>
      <p:sp>
        <p:nvSpPr>
          <p:cNvPr id="131" name="Google Shape;131;g348f39f7dce_0_1"/>
          <p:cNvSpPr txBox="1"/>
          <p:nvPr>
            <p:ph idx="1" type="body"/>
          </p:nvPr>
        </p:nvSpPr>
        <p:spPr>
          <a:xfrm>
            <a:off x="457200" y="2049275"/>
            <a:ext cx="4114800" cy="4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1800" u="sng"/>
              <a:t>App:</a:t>
            </a:r>
            <a:endParaRPr b="1" sz="1800" u="sng"/>
          </a:p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1800"/>
              <a:t>Purpose: Provide an interface for users to interact with the solar home system.</a:t>
            </a:r>
            <a:endParaRPr sz="1800"/>
          </a:p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1800"/>
              <a:t>Key functions: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Get system information (Battery Capacity, Temperature, Load &amp; Generation info, etc.) from cloud and display to user.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Allow users to control system remotely (turn on/off lights, devices).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Supports user-set schedules and timers. </a:t>
            </a:r>
            <a:endParaRPr sz="1800"/>
          </a:p>
        </p:txBody>
      </p:sp>
      <p:sp>
        <p:nvSpPr>
          <p:cNvPr id="132" name="Google Shape;132;g348f39f7dce_0_1"/>
          <p:cNvSpPr txBox="1"/>
          <p:nvPr>
            <p:ph idx="1" type="body"/>
          </p:nvPr>
        </p:nvSpPr>
        <p:spPr>
          <a:xfrm>
            <a:off x="4572000" y="2049275"/>
            <a:ext cx="4114800" cy="4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1800" u="sng"/>
              <a:t>Machine Learning Algorithms:</a:t>
            </a:r>
            <a:endParaRPr b="1" sz="1800" u="sng"/>
          </a:p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1800"/>
              <a:t>Purpose: Process image data from Visible light and Infrared video cameras to identify humans in frame.</a:t>
            </a:r>
            <a:endParaRPr sz="1800"/>
          </a:p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1800"/>
              <a:t>Key function: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Take video data (VL and IR) and determine </a:t>
            </a:r>
            <a:r>
              <a:rPr lang="en-US" sz="1800"/>
              <a:t>whether</a:t>
            </a:r>
            <a:r>
              <a:rPr lang="en-US" sz="1800"/>
              <a:t> a human being is in frame.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 sz="1800"/>
              <a:t>Send signal to microcontroller.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/>
          <p:nvPr>
            <p:ph type="title"/>
          </p:nvPr>
        </p:nvSpPr>
        <p:spPr>
          <a:xfrm>
            <a:off x="457200" y="830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and Validation</a:t>
            </a:r>
            <a:endParaRPr/>
          </a:p>
        </p:txBody>
      </p:sp>
      <p:pic>
        <p:nvPicPr>
          <p:cNvPr id="138" name="Google Shape;138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925" y="1556127"/>
            <a:ext cx="6948150" cy="491932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 txBox="1"/>
          <p:nvPr/>
        </p:nvSpPr>
        <p:spPr>
          <a:xfrm>
            <a:off x="2501850" y="6475450"/>
            <a:ext cx="414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</a:rPr>
              <a:t>Figure 6: Tentative execution timeline for each subsystem </a:t>
            </a:r>
            <a:endParaRPr i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2012-01-20T14:22:33Z</dcterms:created>
  <dc:creator>Samuel Villareal</dc:creator>
</cp:coreProperties>
</file>