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918400" cx="43891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A4A3A4"/>
          </p15:clr>
        </p15:guide>
        <p15:guide id="2" pos="11808">
          <p15:clr>
            <a:srgbClr val="A4A3A4"/>
          </p15:clr>
        </p15:guide>
        <p15:guide id="3" pos="13824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gTH98daimjipPxSHR4akZBGZgE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11808"/>
        <p:guide pos="138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d70148da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g3d70148dad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Image">
  <p:cSld name="Background Imag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11169060" y="6431836"/>
            <a:ext cx="0" cy="24886364"/>
          </a:xfrm>
          <a:prstGeom prst="straightConnector1">
            <a:avLst/>
          </a:prstGeom>
          <a:noFill/>
          <a:ln cap="flat" cmpd="tri" w="7620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7" name="Google Shape;17;p3"/>
          <p:cNvCxnSpPr/>
          <p:nvPr/>
        </p:nvCxnSpPr>
        <p:spPr>
          <a:xfrm>
            <a:off x="11307763" y="7009765"/>
            <a:ext cx="914400" cy="9144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8" name="Google Shape;18;p3"/>
          <p:cNvCxnSpPr/>
          <p:nvPr/>
        </p:nvCxnSpPr>
        <p:spPr>
          <a:xfrm>
            <a:off x="21945600" y="6431836"/>
            <a:ext cx="0" cy="24886364"/>
          </a:xfrm>
          <a:prstGeom prst="straightConnector1">
            <a:avLst/>
          </a:prstGeom>
          <a:noFill/>
          <a:ln cap="flat" cmpd="tri" w="7620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9" name="Google Shape;19;p3"/>
          <p:cNvCxnSpPr/>
          <p:nvPr/>
        </p:nvCxnSpPr>
        <p:spPr>
          <a:xfrm>
            <a:off x="32577212" y="6431836"/>
            <a:ext cx="0" cy="24886364"/>
          </a:xfrm>
          <a:prstGeom prst="straightConnector1">
            <a:avLst/>
          </a:prstGeom>
          <a:noFill/>
          <a:ln cap="flat" cmpd="tri" w="88900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914400" y="6644640"/>
            <a:ext cx="9798050" cy="1487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0492" lvl="0" marL="4572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492" lvl="1" marL="9144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0492" lvl="2" marL="13716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0492" lvl="3" marL="18288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0492" lvl="4" marL="22860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245EAC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6263" lvl="5" marL="27432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6263" lvl="6" marL="32004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6263" lvl="7" marL="36576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6263" lvl="8" marL="41148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/>
          <p:nvPr>
            <p:ph idx="2" type="pic"/>
          </p:nvPr>
        </p:nvSpPr>
        <p:spPr>
          <a:xfrm>
            <a:off x="914400" y="21843852"/>
            <a:ext cx="9798050" cy="745236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2" name="Google Shape;22;p3"/>
          <p:cNvSpPr/>
          <p:nvPr>
            <p:ph idx="3" type="pic"/>
          </p:nvPr>
        </p:nvSpPr>
        <p:spPr>
          <a:xfrm>
            <a:off x="33046966" y="17186910"/>
            <a:ext cx="9798050" cy="745236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" name="Google Shape;23;p3"/>
          <p:cNvSpPr txBox="1"/>
          <p:nvPr>
            <p:ph idx="4" type="body"/>
          </p:nvPr>
        </p:nvSpPr>
        <p:spPr>
          <a:xfrm>
            <a:off x="11674474" y="6644640"/>
            <a:ext cx="9798050" cy="2292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0492" lvl="0" marL="4572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492" lvl="1" marL="9144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0492" lvl="2" marL="13716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0492" lvl="3" marL="18288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0492" lvl="4" marL="22860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245EAC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6263" lvl="5" marL="27432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6263" lvl="6" marL="32004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6263" lvl="7" marL="36576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6263" lvl="8" marL="41148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5" type="body"/>
          </p:nvPr>
        </p:nvSpPr>
        <p:spPr>
          <a:xfrm>
            <a:off x="22516542" y="6705600"/>
            <a:ext cx="9448423" cy="664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0492" lvl="0" marL="4572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492" lvl="1" marL="9144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0492" lvl="2" marL="13716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0492" lvl="3" marL="18288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0492" lvl="4" marL="22860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245EAC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6263" lvl="5" marL="27432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6263" lvl="6" marL="32004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6263" lvl="7" marL="36576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6263" lvl="8" marL="41148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6" type="body"/>
          </p:nvPr>
        </p:nvSpPr>
        <p:spPr>
          <a:xfrm>
            <a:off x="33046966" y="6705600"/>
            <a:ext cx="9798050" cy="9936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0492" lvl="0" marL="4572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492" lvl="1" marL="9144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0492" lvl="2" marL="13716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0492" lvl="3" marL="18288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0492" lvl="4" marL="22860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245EAC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6263" lvl="5" marL="27432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6263" lvl="6" marL="32004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6263" lvl="7" marL="36576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6263" lvl="8" marL="41148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7" type="body"/>
          </p:nvPr>
        </p:nvSpPr>
        <p:spPr>
          <a:xfrm>
            <a:off x="33046966" y="25130235"/>
            <a:ext cx="9798050" cy="4252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0492" lvl="0" marL="4572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492" lvl="1" marL="9144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0492" lvl="2" marL="13716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0492" lvl="3" marL="18288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0492" lvl="4" marL="22860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245EAC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6263" lvl="5" marL="27432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6263" lvl="6" marL="32004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6263" lvl="7" marL="36576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6263" lvl="8" marL="41148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"/>
          <p:cNvSpPr/>
          <p:nvPr>
            <p:ph idx="8" type="chart"/>
          </p:nvPr>
        </p:nvSpPr>
        <p:spPr>
          <a:xfrm>
            <a:off x="22513521" y="14194529"/>
            <a:ext cx="9454334" cy="6942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854"/>
              </a:spcBef>
              <a:spcAft>
                <a:spcPts val="0"/>
              </a:spcAft>
              <a:buClr>
                <a:schemeClr val="dk1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050"/>
              <a:buFont typeface="Arial"/>
              <a:buChar char="•"/>
              <a:defRPr b="0" i="0" sz="2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708"/>
              <a:buFont typeface="Arial"/>
              <a:buChar char="•"/>
              <a:defRPr b="0" i="0" sz="170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9" type="body"/>
          </p:nvPr>
        </p:nvSpPr>
        <p:spPr>
          <a:xfrm>
            <a:off x="22513522" y="21847581"/>
            <a:ext cx="9417420" cy="7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0492" lvl="0" marL="4572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0492" lvl="1" marL="9144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0492" lvl="2" marL="13716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0492" lvl="3" marL="18288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0492" lvl="4" marL="2286000" marR="0" rtl="0" algn="l">
              <a:lnSpc>
                <a:spcPct val="164255"/>
              </a:lnSpc>
              <a:spcBef>
                <a:spcPts val="0"/>
              </a:spcBef>
              <a:spcAft>
                <a:spcPts val="0"/>
              </a:spcAft>
              <a:buClr>
                <a:srgbClr val="245EAC"/>
              </a:buClr>
              <a:buSzPts val="2392"/>
              <a:buFont typeface="Arial"/>
              <a:buChar char="•"/>
              <a:defRPr b="0" i="0" sz="2392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6263" lvl="5" marL="27432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6263" lvl="6" marL="32004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6263" lvl="7" marL="36576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6263" lvl="8" marL="4114800" marR="0" rtl="0" algn="l">
              <a:lnSpc>
                <a:spcPct val="9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538"/>
              <a:buFont typeface="Arial"/>
              <a:buChar char="•"/>
              <a:defRPr b="0" i="0" sz="153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20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/>
          <p:nvPr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rgbClr val="5D00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2"/>
          <p:cNvSpPr/>
          <p:nvPr/>
        </p:nvSpPr>
        <p:spPr>
          <a:xfrm>
            <a:off x="0" y="5257801"/>
            <a:ext cx="43891200" cy="265176"/>
          </a:xfrm>
          <a:prstGeom prst="rect">
            <a:avLst/>
          </a:prstGeom>
          <a:solidFill>
            <a:srgbClr val="8D50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8"/>
              <a:buFont typeface="Arial"/>
              <a:buNone/>
            </a:pPr>
            <a:r>
              <a:t/>
            </a:r>
            <a:endParaRPr b="0" i="0" sz="725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"/>
          <p:cNvSpPr/>
          <p:nvPr/>
        </p:nvSpPr>
        <p:spPr>
          <a:xfrm>
            <a:off x="0" y="31470600"/>
            <a:ext cx="43891200" cy="1447800"/>
          </a:xfrm>
          <a:prstGeom prst="rect">
            <a:avLst/>
          </a:prstGeom>
          <a:solidFill>
            <a:srgbClr val="5D00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" name="Google Shape;9;p2"/>
          <p:cNvCxnSpPr/>
          <p:nvPr/>
        </p:nvCxnSpPr>
        <p:spPr>
          <a:xfrm>
            <a:off x="31543262" y="30837464"/>
            <a:ext cx="0" cy="1588169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10" name="Google Shape;10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" y="0"/>
            <a:ext cx="37322118" cy="2503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1">
            <a:alphaModFix/>
          </a:blip>
          <a:srcRect b="0" l="65059" r="0" t="0"/>
          <a:stretch/>
        </p:blipFill>
        <p:spPr>
          <a:xfrm>
            <a:off x="1" y="31434024"/>
            <a:ext cx="43939859" cy="1471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 rotWithShape="1">
          <a:blip r:embed="rId1">
            <a:alphaModFix/>
          </a:blip>
          <a:srcRect b="0" l="65059" r="0" t="0"/>
          <a:stretch/>
        </p:blipFill>
        <p:spPr>
          <a:xfrm>
            <a:off x="1" y="2503724"/>
            <a:ext cx="43891201" cy="298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1">
            <a:alphaModFix/>
          </a:blip>
          <a:srcRect b="0" l="65059" r="0" t="0"/>
          <a:stretch/>
        </p:blipFill>
        <p:spPr>
          <a:xfrm>
            <a:off x="36157168" y="0"/>
            <a:ext cx="7734033" cy="298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1">
            <a:alphaModFix/>
          </a:blip>
          <a:srcRect b="0" l="65059" r="0" t="0"/>
          <a:stretch/>
        </p:blipFill>
        <p:spPr>
          <a:xfrm>
            <a:off x="1" y="31470601"/>
            <a:ext cx="43891201" cy="95503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1" Type="http://schemas.openxmlformats.org/officeDocument/2006/relationships/image" Target="../media/image6.png"/><Relationship Id="rId10" Type="http://schemas.openxmlformats.org/officeDocument/2006/relationships/image" Target="../media/image10.jpg"/><Relationship Id="rId9" Type="http://schemas.openxmlformats.org/officeDocument/2006/relationships/image" Target="../media/image8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jpg"/><Relationship Id="rId8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d70148dad7_0_0"/>
          <p:cNvSpPr/>
          <p:nvPr/>
        </p:nvSpPr>
        <p:spPr>
          <a:xfrm>
            <a:off x="1688825" y="1207050"/>
            <a:ext cx="40679700" cy="3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950" lIns="77925" spcFirstLastPara="1" rIns="77925" wrap="square" tIns="38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lang="en-US" sz="8800">
                <a:solidFill>
                  <a:schemeClr val="lt1"/>
                </a:solidFill>
              </a:rPr>
              <a:t>Solar Home Lighting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13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lt1"/>
                </a:solidFill>
              </a:rPr>
              <a:t>Matthew Cepulis, Corey Perlmutter, Thomas Moll, Sara Rueda</a:t>
            </a:r>
            <a:endParaRPr b="1" sz="54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51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lt1"/>
                </a:solidFill>
              </a:rPr>
              <a:t>Professor Wonhyeok Jang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d70148dad7_0_0"/>
          <p:cNvSpPr txBox="1"/>
          <p:nvPr/>
        </p:nvSpPr>
        <p:spPr>
          <a:xfrm>
            <a:off x="35642846" y="4324131"/>
            <a:ext cx="803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oblem Definition" id="35" name="Google Shape;35;g3d70148dad7_0_0"/>
          <p:cNvSpPr txBox="1"/>
          <p:nvPr/>
        </p:nvSpPr>
        <p:spPr>
          <a:xfrm>
            <a:off x="914400" y="7003709"/>
            <a:ext cx="98298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7"/>
              <a:buFont typeface="Arial"/>
              <a:buNone/>
            </a:pPr>
            <a:r>
              <a:t/>
            </a:r>
            <a:endParaRPr b="0" i="0" sz="247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d70148dad7_0_0"/>
          <p:cNvSpPr txBox="1"/>
          <p:nvPr/>
        </p:nvSpPr>
        <p:spPr>
          <a:xfrm>
            <a:off x="1014988" y="6702417"/>
            <a:ext cx="9667800" cy="5549400"/>
          </a:xfrm>
          <a:prstGeom prst="rect">
            <a:avLst/>
          </a:prstGeom>
          <a:solidFill>
            <a:schemeClr val="lt1">
              <a:alpha val="6275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rPr>
              <a:t>Problem Definition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en-US" sz="3400">
                <a:solidFill>
                  <a:schemeClr val="dk1"/>
                </a:solidFill>
              </a:rPr>
              <a:t>Traditional residential lighting systems rely heavily on grid electricity, lack intelligent control features, and do not optimize for energy savings, especially for night-time usage when lighting demand is highest.</a:t>
            </a:r>
            <a:endParaRPr sz="3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</p:txBody>
      </p:sp>
      <p:cxnSp>
        <p:nvCxnSpPr>
          <p:cNvPr id="37" name="Google Shape;37;g3d70148dad7_0_0"/>
          <p:cNvCxnSpPr/>
          <p:nvPr/>
        </p:nvCxnSpPr>
        <p:spPr>
          <a:xfrm>
            <a:off x="937201" y="11318901"/>
            <a:ext cx="9784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" name="Google Shape;38;g3d70148dad7_0_0"/>
          <p:cNvSpPr txBox="1"/>
          <p:nvPr/>
        </p:nvSpPr>
        <p:spPr>
          <a:xfrm>
            <a:off x="1107700" y="11660087"/>
            <a:ext cx="9482400" cy="9173700"/>
          </a:xfrm>
          <a:prstGeom prst="rect">
            <a:avLst/>
          </a:prstGeom>
          <a:solidFill>
            <a:schemeClr val="lt1">
              <a:alpha val="6275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For our project, we designed and prototyped a standalone Solar Home Lighting System that facilitates various functions. For power generation and storage, the system employs an MPPT Charge Controller to regulate the current from a solar panel to charge a 12V battery. The stored charge is then distributed to a handful of subsystems for use by the end-user, such as a 120VAC inverter for powering small electronics, a microcontroller for monitoring sensors and operating on-board lights, and a Raspberry Pi running low-light Human Detection. For monitoring and control, an app was designed that interfaces with the subsystem through a cloud database.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9" name="Google Shape;39;g3d70148dad7_0_0"/>
          <p:cNvSpPr txBox="1"/>
          <p:nvPr/>
        </p:nvSpPr>
        <p:spPr>
          <a:xfrm>
            <a:off x="11751399" y="17742715"/>
            <a:ext cx="9499800" cy="6957300"/>
          </a:xfrm>
          <a:prstGeom prst="rect">
            <a:avLst/>
          </a:prstGeom>
          <a:solidFill>
            <a:schemeClr val="lt1">
              <a:alpha val="6275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rPr>
              <a:t>Engineering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The system was divided into different subsystems to simplify the design and ensure proper integration. Each subsystem handles a specific function and works together to achieve the overall system performance.</a:t>
            </a:r>
            <a:endParaRPr sz="2800">
              <a:solidFill>
                <a:schemeClr val="dk1"/>
              </a:solidFill>
            </a:endParaRPr>
          </a:p>
          <a:p>
            <a:pPr indent="-514350" lvl="1" marL="97155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AutoNum type="alphaUcPeriod"/>
            </a:pPr>
            <a:r>
              <a:rPr lang="en-US" sz="2800">
                <a:solidFill>
                  <a:schemeClr val="dk1"/>
                </a:solidFill>
              </a:rPr>
              <a:t>Solar panel and charge controller subsystem</a:t>
            </a:r>
            <a:endParaRPr sz="2800">
              <a:solidFill>
                <a:schemeClr val="dk1"/>
              </a:solidFill>
            </a:endParaRPr>
          </a:p>
          <a:p>
            <a:pPr indent="-514350" lvl="1" marL="97155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AutoNum type="alphaUcPeriod"/>
            </a:pPr>
            <a:r>
              <a:rPr lang="en-US" sz="2800">
                <a:solidFill>
                  <a:schemeClr val="dk1"/>
                </a:solidFill>
              </a:rPr>
              <a:t>DC/AC load subsystem</a:t>
            </a:r>
            <a:endParaRPr sz="2800">
              <a:solidFill>
                <a:schemeClr val="dk1"/>
              </a:solidFill>
            </a:endParaRPr>
          </a:p>
          <a:p>
            <a:pPr indent="-514350" lvl="1" marL="97155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AutoNum type="alphaUcPeriod"/>
            </a:pPr>
            <a:r>
              <a:rPr lang="en-US" sz="2800">
                <a:solidFill>
                  <a:schemeClr val="dk1"/>
                </a:solidFill>
              </a:rPr>
              <a:t>Microcontroller and sensor data subsystem</a:t>
            </a:r>
            <a:endParaRPr sz="2800">
              <a:solidFill>
                <a:schemeClr val="dk1"/>
              </a:solidFill>
            </a:endParaRPr>
          </a:p>
          <a:p>
            <a:pPr indent="-514350" lvl="1" marL="97155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AutoNum type="alphaUcPeriod"/>
            </a:pPr>
            <a:r>
              <a:rPr lang="en-US" sz="2800">
                <a:solidFill>
                  <a:schemeClr val="dk1"/>
                </a:solidFill>
              </a:rPr>
              <a:t>Mobile application and image processing subsystem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descr="Chart Description Border" id="40" name="Google Shape;40;g3d70148dad7_0_0"/>
          <p:cNvSpPr/>
          <p:nvPr/>
        </p:nvSpPr>
        <p:spPr>
          <a:xfrm rot="10800000">
            <a:off x="19982497" y="15719911"/>
            <a:ext cx="248930" cy="980922"/>
          </a:xfrm>
          <a:custGeom>
            <a:rect b="b" l="l" r="r" t="t"/>
            <a:pathLst>
              <a:path extrusionOk="0" h="1641711" w="387439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Arial"/>
              <a:buNone/>
            </a:pPr>
            <a:r>
              <a:t/>
            </a:r>
            <a:endParaRPr b="0" i="0" sz="6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d70148dad7_0_0"/>
          <p:cNvSpPr txBox="1"/>
          <p:nvPr/>
        </p:nvSpPr>
        <p:spPr>
          <a:xfrm>
            <a:off x="11734733" y="30596367"/>
            <a:ext cx="9829800" cy="52320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i="1" lang="en-US" sz="2800">
                <a:solidFill>
                  <a:schemeClr val="dk1"/>
                </a:solidFill>
              </a:rPr>
              <a:t>3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en-US" sz="2800">
                <a:solidFill>
                  <a:schemeClr val="dk1"/>
                </a:solidFill>
              </a:rPr>
              <a:t>Charge 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2;g3d70148dad7_0_0"/>
          <p:cNvCxnSpPr/>
          <p:nvPr/>
        </p:nvCxnSpPr>
        <p:spPr>
          <a:xfrm>
            <a:off x="22356537" y="24624780"/>
            <a:ext cx="9673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3" name="Google Shape;43;g3d70148dad7_0_0"/>
          <p:cNvSpPr txBox="1"/>
          <p:nvPr/>
        </p:nvSpPr>
        <p:spPr>
          <a:xfrm>
            <a:off x="22482525" y="24817700"/>
            <a:ext cx="9421200" cy="6418500"/>
          </a:xfrm>
          <a:prstGeom prst="rect">
            <a:avLst/>
          </a:prstGeom>
          <a:solidFill>
            <a:schemeClr val="lt1">
              <a:alpha val="6275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rPr>
              <a:t>Outcomes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64285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The Solar Home Lighting system successfully integrated four subsystems; solar charge control, DC/AC power conversion, microcontroller sensor fusion, and mobile app control,  into a functional off-grid residential lighting platform. Together the subsystems demonstrate a deployable, grid-independent lighting solution that reduces energy waste through intelligent occupancy-based automation.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44" name="Google Shape;44;g3d70148dad7_0_0"/>
          <p:cNvSpPr txBox="1"/>
          <p:nvPr/>
        </p:nvSpPr>
        <p:spPr>
          <a:xfrm>
            <a:off x="33085199" y="12225815"/>
            <a:ext cx="9829800" cy="52320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i="1" lang="en-US" sz="2800">
                <a:solidFill>
                  <a:schemeClr val="dk1"/>
                </a:solidFill>
              </a:rPr>
              <a:t>7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en-US" sz="2800">
                <a:solidFill>
                  <a:schemeClr val="dk1"/>
                </a:solidFill>
              </a:rPr>
              <a:t>Lighting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d70148dad7_0_0"/>
          <p:cNvSpPr txBox="1"/>
          <p:nvPr/>
        </p:nvSpPr>
        <p:spPr>
          <a:xfrm>
            <a:off x="33185467" y="18427369"/>
            <a:ext cx="9562200" cy="8065500"/>
          </a:xfrm>
          <a:prstGeom prst="rect">
            <a:avLst/>
          </a:prstGeom>
          <a:solidFill>
            <a:schemeClr val="lt1">
              <a:alpha val="6275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rPr>
              <a:t>Impact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2750" lvl="1" marL="91440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Intelligent Autonomous Lighting: Sensors and AI detect motion and ambient light, turning lights on only when needed at night to reduce energy use.</a:t>
            </a:r>
            <a:endParaRPr sz="2800"/>
          </a:p>
          <a:p>
            <a:pPr indent="-412750" lvl="1" marL="91440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Sustainable Off-Grid Power: Solar panels and battery storage allow the system to operate independently from the grid, providing reliable nighttime lighting.</a:t>
            </a:r>
            <a:endParaRPr sz="2800"/>
          </a:p>
          <a:p>
            <a:pPr indent="-412750" lvl="1" marL="914400" marR="0" rtl="0" algn="l">
              <a:lnSpc>
                <a:spcPct val="164285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Remote Monitoring and Control: A mobile app with cloud integration lets users monitor and control lighting in real time, with both manual and automatic modes.</a:t>
            </a:r>
            <a:endParaRPr sz="2800"/>
          </a:p>
        </p:txBody>
      </p:sp>
      <p:cxnSp>
        <p:nvCxnSpPr>
          <p:cNvPr id="46" name="Google Shape;46;g3d70148dad7_0_0"/>
          <p:cNvCxnSpPr/>
          <p:nvPr/>
        </p:nvCxnSpPr>
        <p:spPr>
          <a:xfrm>
            <a:off x="33225380" y="26569052"/>
            <a:ext cx="9482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7" name="Google Shape;47;g3d70148dad7_0_0"/>
          <p:cNvSpPr txBox="1"/>
          <p:nvPr/>
        </p:nvSpPr>
        <p:spPr>
          <a:xfrm>
            <a:off x="33041541" y="26648761"/>
            <a:ext cx="9917100" cy="2751300"/>
          </a:xfrm>
          <a:prstGeom prst="rect">
            <a:avLst/>
          </a:prstGeom>
          <a:solidFill>
            <a:schemeClr val="lt1">
              <a:alpha val="6275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4000" u="sng" cap="none" strike="noStrike">
              <a:solidFill>
                <a:srgbClr val="5D00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9050" lvl="0" marL="0" marR="0" rtl="0" algn="l">
              <a:lnSpc>
                <a:spcPct val="158333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AutoNum type="arabicPeriod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2100">
                <a:solidFill>
                  <a:srgbClr val="222222"/>
                </a:solidFill>
                <a:highlight>
                  <a:srgbClr val="FFFFFF"/>
                </a:highlight>
              </a:rPr>
              <a:t>Morawski, I., Chen, Y. A., Lin, Y. S., &amp; Hsu, W. H. (2021). Nod: Taking a closer look at detection under extreme low-light conditions with night object detection dataset. </a:t>
            </a:r>
            <a:r>
              <a:rPr i="1" lang="en-US" sz="2100">
                <a:solidFill>
                  <a:srgbClr val="222222"/>
                </a:solidFill>
                <a:highlight>
                  <a:srgbClr val="FFFFFF"/>
                </a:highlight>
              </a:rPr>
              <a:t>arXiv preprint arXiv:2110.10364</a:t>
            </a:r>
            <a:r>
              <a:rPr lang="en-US" sz="210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r>
              <a:rPr lang="en-US" sz="2100"/>
              <a:t>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d70148dad7_0_0"/>
          <p:cNvSpPr txBox="1"/>
          <p:nvPr/>
        </p:nvSpPr>
        <p:spPr>
          <a:xfrm>
            <a:off x="33041558" y="28914492"/>
            <a:ext cx="10705800" cy="2178000"/>
          </a:xfrm>
          <a:prstGeom prst="rect">
            <a:avLst/>
          </a:prstGeom>
          <a:solidFill>
            <a:schemeClr val="lt1">
              <a:alpha val="6275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sng" cap="none" strike="noStrike">
                <a:solidFill>
                  <a:srgbClr val="5D0025"/>
                </a:solidFill>
                <a:latin typeface="Arial"/>
                <a:ea typeface="Arial"/>
                <a:cs typeface="Arial"/>
                <a:sym typeface="Arial"/>
              </a:rPr>
              <a:t>Acknowledgements</a:t>
            </a:r>
            <a:endParaRPr b="0" i="0" sz="4000" u="sng" cap="none" strike="noStrike">
              <a:solidFill>
                <a:srgbClr val="5D00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833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chemeClr val="dk1"/>
                </a:solidFill>
              </a:rPr>
              <a:t>We would like to thank our professors and teaching assistants for their guidance and support throughout this project, as well as Texas A&amp;M University for providing the resources that made this work possible.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g3d70148dad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22606" y="0"/>
            <a:ext cx="5468594" cy="550187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3d70148dad7_0_0"/>
          <p:cNvSpPr txBox="1"/>
          <p:nvPr/>
        </p:nvSpPr>
        <p:spPr>
          <a:xfrm>
            <a:off x="22412508" y="24101578"/>
            <a:ext cx="9829800" cy="52320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i="1" lang="en-US" sz="2800">
                <a:solidFill>
                  <a:schemeClr val="dk1"/>
                </a:solidFill>
              </a:rPr>
              <a:t>6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en-US" sz="2800">
                <a:solidFill>
                  <a:schemeClr val="dk1"/>
                </a:solidFill>
              </a:rPr>
              <a:t>Human Detection in action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d70148dad7_0_0"/>
          <p:cNvSpPr/>
          <p:nvPr/>
        </p:nvSpPr>
        <p:spPr>
          <a:xfrm>
            <a:off x="11369860" y="25236057"/>
            <a:ext cx="879300" cy="9810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rgbClr val="5D00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2"/>
                </a:solidFill>
              </a:rPr>
              <a:t>A</a:t>
            </a:r>
            <a:endParaRPr sz="4800">
              <a:solidFill>
                <a:schemeClr val="dk2"/>
              </a:solidFill>
            </a:endParaRPr>
          </a:p>
        </p:txBody>
      </p:sp>
      <p:sp>
        <p:nvSpPr>
          <p:cNvPr id="52" name="Google Shape;52;g3d70148dad7_0_0"/>
          <p:cNvSpPr/>
          <p:nvPr/>
        </p:nvSpPr>
        <p:spPr>
          <a:xfrm>
            <a:off x="22197488" y="19108150"/>
            <a:ext cx="879300" cy="9810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rgbClr val="5D00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2"/>
                </a:solidFill>
              </a:rPr>
              <a:t>D</a:t>
            </a:r>
            <a:endParaRPr sz="4800">
              <a:solidFill>
                <a:schemeClr val="dk2"/>
              </a:solidFill>
            </a:endParaRPr>
          </a:p>
        </p:txBody>
      </p:sp>
      <p:sp>
        <p:nvSpPr>
          <p:cNvPr id="53" name="Google Shape;53;g3d70148dad7_0_0"/>
          <p:cNvSpPr/>
          <p:nvPr/>
        </p:nvSpPr>
        <p:spPr>
          <a:xfrm>
            <a:off x="22292377" y="12514166"/>
            <a:ext cx="879300" cy="9810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rgbClr val="5D00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2"/>
                </a:solidFill>
              </a:rPr>
              <a:t>C</a:t>
            </a:r>
            <a:endParaRPr sz="4800">
              <a:solidFill>
                <a:schemeClr val="dk2"/>
              </a:solidFill>
            </a:endParaRPr>
          </a:p>
        </p:txBody>
      </p:sp>
      <p:pic>
        <p:nvPicPr>
          <p:cNvPr id="54" name="Google Shape;54;g3d70148dad7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36787" y="12621400"/>
            <a:ext cx="6976200" cy="54960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g3d70148dad7_0_0"/>
          <p:cNvCxnSpPr/>
          <p:nvPr/>
        </p:nvCxnSpPr>
        <p:spPr>
          <a:xfrm>
            <a:off x="22377587" y="18952305"/>
            <a:ext cx="9673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6" name="Google Shape;56;g3d70148dad7_0_0"/>
          <p:cNvSpPr txBox="1"/>
          <p:nvPr/>
        </p:nvSpPr>
        <p:spPr>
          <a:xfrm>
            <a:off x="22377595" y="18273253"/>
            <a:ext cx="9829800" cy="52320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i="1" lang="en-US" sz="2800">
                <a:solidFill>
                  <a:schemeClr val="dk1"/>
                </a:solidFill>
              </a:rPr>
              <a:t>5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en-US" sz="2800">
                <a:solidFill>
                  <a:schemeClr val="dk1"/>
                </a:solidFill>
              </a:rPr>
              <a:t>Sensor Control Schematic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g3d70148dad7_0_0" title="unnamed.png"/>
          <p:cNvPicPr preferRelativeResize="0"/>
          <p:nvPr/>
        </p:nvPicPr>
        <p:blipFill rotWithShape="1">
          <a:blip r:embed="rId5">
            <a:alphaModFix/>
          </a:blip>
          <a:srcRect b="9937" l="0" r="0" t="19136"/>
          <a:stretch/>
        </p:blipFill>
        <p:spPr>
          <a:xfrm>
            <a:off x="33948375" y="6866225"/>
            <a:ext cx="8036399" cy="52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g3d70148dad7_0_0"/>
          <p:cNvSpPr txBox="1"/>
          <p:nvPr/>
        </p:nvSpPr>
        <p:spPr>
          <a:xfrm>
            <a:off x="22479008" y="11847686"/>
            <a:ext cx="9829800" cy="52320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i="1" lang="en-US" sz="2800">
                <a:solidFill>
                  <a:schemeClr val="dk1"/>
                </a:solidFill>
              </a:rPr>
              <a:t>4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en-US" sz="2800">
                <a:solidFill>
                  <a:schemeClr val="dk1"/>
                </a:solidFill>
              </a:rPr>
              <a:t>Boost Converter - Inverter Schematic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d70148dad7_0_0"/>
          <p:cNvSpPr/>
          <p:nvPr/>
        </p:nvSpPr>
        <p:spPr>
          <a:xfrm>
            <a:off x="22197493" y="6535300"/>
            <a:ext cx="879300" cy="9810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rgbClr val="5D00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2"/>
                </a:solidFill>
              </a:rPr>
              <a:t>B</a:t>
            </a:r>
            <a:endParaRPr sz="4800">
              <a:solidFill>
                <a:schemeClr val="dk2"/>
              </a:solidFill>
            </a:endParaRPr>
          </a:p>
        </p:txBody>
      </p:sp>
      <p:pic>
        <p:nvPicPr>
          <p:cNvPr id="60" name="Google Shape;60;g3d70148dad7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291474" y="6702425"/>
            <a:ext cx="8823992" cy="50841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g3d70148dad7_0_0"/>
          <p:cNvCxnSpPr/>
          <p:nvPr/>
        </p:nvCxnSpPr>
        <p:spPr>
          <a:xfrm>
            <a:off x="22310812" y="12373755"/>
            <a:ext cx="9673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2" name="Google Shape;62;g3d70148dad7_0_0"/>
          <p:cNvSpPr txBox="1"/>
          <p:nvPr/>
        </p:nvSpPr>
        <p:spPr>
          <a:xfrm>
            <a:off x="11734731" y="16967173"/>
            <a:ext cx="9829800" cy="52320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i="1" lang="en-US" sz="2800">
                <a:solidFill>
                  <a:schemeClr val="dk1"/>
                </a:solidFill>
              </a:rPr>
              <a:t>2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en-US" sz="2800">
                <a:solidFill>
                  <a:schemeClr val="dk1"/>
                </a:solidFill>
              </a:rPr>
              <a:t>Integrated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d70148dad7_0_0"/>
          <p:cNvSpPr txBox="1"/>
          <p:nvPr/>
        </p:nvSpPr>
        <p:spPr>
          <a:xfrm>
            <a:off x="33085199" y="17826364"/>
            <a:ext cx="9829800" cy="523200"/>
          </a:xfrm>
          <a:prstGeom prst="rect">
            <a:avLst/>
          </a:prstGeom>
          <a:solidFill>
            <a:schemeClr val="lt1">
              <a:alpha val="4196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</a:t>
            </a:r>
            <a:r>
              <a:rPr i="1" lang="en-US" sz="2800">
                <a:solidFill>
                  <a:schemeClr val="dk1"/>
                </a:solidFill>
              </a:rPr>
              <a:t>8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i="1" lang="en-US" sz="2800">
                <a:solidFill>
                  <a:schemeClr val="dk1"/>
                </a:solidFill>
              </a:rPr>
              <a:t>Charging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d70148dad7_0_0"/>
          <p:cNvSpPr txBox="1"/>
          <p:nvPr/>
        </p:nvSpPr>
        <p:spPr>
          <a:xfrm>
            <a:off x="2007700" y="30476900"/>
            <a:ext cx="766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</a:rPr>
              <a:t>Figure 1. Integrated system</a:t>
            </a:r>
            <a:endParaRPr/>
          </a:p>
        </p:txBody>
      </p:sp>
      <p:pic>
        <p:nvPicPr>
          <p:cNvPr id="65" name="Google Shape;65;g3d70148dad7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134672" y="19225700"/>
            <a:ext cx="6315653" cy="478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g3d70148dad7_0_0"/>
          <p:cNvPicPr preferRelativeResize="0"/>
          <p:nvPr/>
        </p:nvPicPr>
        <p:blipFill rotWithShape="1">
          <a:blip r:embed="rId8">
            <a:alphaModFix/>
          </a:blip>
          <a:srcRect b="14373" l="0" r="0" t="11039"/>
          <a:stretch/>
        </p:blipFill>
        <p:spPr>
          <a:xfrm>
            <a:off x="12520701" y="25594263"/>
            <a:ext cx="8824002" cy="4936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g3d70148dad7_0_0" title="IMG_3654.jpeg"/>
          <p:cNvPicPr preferRelativeResize="0"/>
          <p:nvPr/>
        </p:nvPicPr>
        <p:blipFill rotWithShape="1">
          <a:blip r:embed="rId9">
            <a:alphaModFix/>
          </a:blip>
          <a:srcRect b="20872" l="11588" r="2450" t="14023"/>
          <a:stretch/>
        </p:blipFill>
        <p:spPr>
          <a:xfrm>
            <a:off x="1220500" y="21174950"/>
            <a:ext cx="9256800" cy="93481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g3d70148dad7_0_0"/>
          <p:cNvCxnSpPr/>
          <p:nvPr/>
        </p:nvCxnSpPr>
        <p:spPr>
          <a:xfrm>
            <a:off x="11813037" y="25027760"/>
            <a:ext cx="9673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9" name="Google Shape;69;g3d70148dad7_0_0"/>
          <p:cNvCxnSpPr/>
          <p:nvPr/>
        </p:nvCxnSpPr>
        <p:spPr>
          <a:xfrm>
            <a:off x="11635401" y="17598190"/>
            <a:ext cx="9784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70" name="Google Shape;70;g3d70148dad7_0_0" title="IMG_3656.jpeg"/>
          <p:cNvPicPr preferRelativeResize="0"/>
          <p:nvPr/>
        </p:nvPicPr>
        <p:blipFill rotWithShape="1">
          <a:blip r:embed="rId10">
            <a:alphaModFix/>
          </a:blip>
          <a:srcRect b="3781" l="0" r="0" t="0"/>
          <a:stretch/>
        </p:blipFill>
        <p:spPr>
          <a:xfrm>
            <a:off x="12509300" y="6583793"/>
            <a:ext cx="8036402" cy="103100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g3d70148dad7_0_0"/>
          <p:cNvCxnSpPr/>
          <p:nvPr/>
        </p:nvCxnSpPr>
        <p:spPr>
          <a:xfrm>
            <a:off x="33108001" y="18388477"/>
            <a:ext cx="97842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72" name="Google Shape;72;g3d70148dad7_0_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3893925" y="12819625"/>
            <a:ext cx="8212355" cy="49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search Poster Template">
  <a:themeElements>
    <a:clrScheme name="Custom 2">
      <a:dk1>
        <a:srgbClr val="333333"/>
      </a:dk1>
      <a:lt1>
        <a:srgbClr val="FFFFFF"/>
      </a:lt1>
      <a:dk2>
        <a:srgbClr val="5D0025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2016-09-29T18:43:16Z</dcterms:created>
  <dc:creator>Lagoudas, Magdalini Z</dc:creator>
</cp:coreProperties>
</file>